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327" r:id="rId2"/>
    <p:sldId id="314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31" r:id="rId11"/>
    <p:sldId id="324" r:id="rId12"/>
    <p:sldId id="325" r:id="rId13"/>
    <p:sldId id="326" r:id="rId14"/>
    <p:sldId id="328" r:id="rId15"/>
    <p:sldId id="329" r:id="rId16"/>
    <p:sldId id="330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1" r:id="rId26"/>
    <p:sldId id="340" r:id="rId27"/>
    <p:sldId id="342" r:id="rId28"/>
    <p:sldId id="343" r:id="rId29"/>
    <p:sldId id="344" r:id="rId30"/>
    <p:sldId id="345" r:id="rId31"/>
    <p:sldId id="346" r:id="rId32"/>
    <p:sldId id="34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379" autoAdjust="0"/>
    <p:restoredTop sz="84706" autoAdjust="0"/>
  </p:normalViewPr>
  <p:slideViewPr>
    <p:cSldViewPr snapToGrid="0" snapToObjects="1">
      <p:cViewPr varScale="1">
        <p:scale>
          <a:sx n="70" d="100"/>
          <a:sy n="70" d="100"/>
        </p:scale>
        <p:origin x="27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188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Find interactive .</a:t>
            </a:r>
            <a:r>
              <a:rPr lang="en-US" dirty="0" err="1"/>
              <a:t>py</a:t>
            </a:r>
            <a:r>
              <a:rPr lang="en-US" dirty="0"/>
              <a:t> in git</a:t>
            </a:r>
          </a:p>
        </p:txBody>
      </p:sp>
    </p:spTree>
    <p:extLst>
      <p:ext uri="{BB962C8B-B14F-4D97-AF65-F5344CB8AC3E}">
        <p14:creationId xmlns:p14="http://schemas.microsoft.com/office/powerpoint/2010/main" val="3637504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892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FC8FE1-DA43-35CA-FAAC-2F3BA89BA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6858"/>
            <a:ext cx="11658600" cy="387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489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D9FC85-648C-997B-D491-D1DB5F55C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37" y="1488725"/>
            <a:ext cx="10337975" cy="38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2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2E41EE-BC5E-C73A-6172-CFBD83FE5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61618"/>
            <a:ext cx="10905066" cy="43347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7639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95CBE6-B466-0BCA-8036-B113A0397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5151"/>
            <a:ext cx="11658600" cy="375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77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E3D812-7ACC-8FC1-4910-D6C04E81C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39700"/>
            <a:ext cx="9867900" cy="657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64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01D6E6-A790-B44C-C3B8-8605DE7FA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51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3EEC51-4861-6BF5-0C0F-4B6EA3BB1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68580"/>
            <a:ext cx="10081260" cy="672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14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4CD735-5AFA-C366-D4D3-DFF60B18B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" y="60960"/>
            <a:ext cx="10104120" cy="673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08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AE0AD1-7AA7-DE76-BDBE-19742EFB7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930" y="116840"/>
            <a:ext cx="9502140" cy="633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27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59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1604F8-561C-5A13-AF3A-D5D3DB117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16033"/>
            <a:ext cx="10905066" cy="362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59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8A1A18-435D-3965-8B3E-52A0125BA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81" y="159854"/>
            <a:ext cx="9807437" cy="653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18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BC2D19-31E3-DAB9-FC4C-F28FDE513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479" y="653329"/>
            <a:ext cx="8157592" cy="544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16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A2F679-7B18-5599-A5D5-5B023790C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902" y="416337"/>
            <a:ext cx="9384196" cy="625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20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1B765D-7B12-D7FE-5085-8C4A38055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13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C9ABD9-AE17-77B4-3EDF-102BFCD85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320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2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8651BA-5E05-3797-3516-A4A88B5CC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687" y="1397000"/>
            <a:ext cx="10243930" cy="341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899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F44F5D-7A21-E591-AF4F-BE50020A4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243" y="198782"/>
            <a:ext cx="9529970" cy="635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34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B9098C-E1A8-98FC-AB09-16F83699D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282" y="203752"/>
            <a:ext cx="9675743" cy="645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92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37EBCC-ED64-14E8-3C5B-E5E207DF4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11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7CE188-C8DD-97FD-F7F8-32C4468A4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069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60DFC4-05A8-3FA7-4F25-1FC277C74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917" y="643467"/>
            <a:ext cx="83461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87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32D275-B825-0B0A-6B21-CDF7C96BE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6858"/>
            <a:ext cx="11658600" cy="387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86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3119C2-75BB-D2CE-A93F-5373E0581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72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8235E3-EB3D-7701-AEA5-2040EED11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283" y="429590"/>
            <a:ext cx="9384196" cy="625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87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4D354-45D3-102B-E0A1-8303C06D94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829"/>
          <a:stretch>
            <a:fillRect/>
          </a:stretch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622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00B8C4-59BB-C18C-9435-43E21EFD3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22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AE8AC9-1D20-2F6C-E2CF-038920397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93" y="62395"/>
            <a:ext cx="10099813" cy="673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61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11960352" cy="932688"/>
          </a:xfrm>
          <a:prstGeom prst="roundRect">
            <a:avLst/>
          </a:prstGeom>
          <a:solidFill>
            <a:srgbClr val="072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338560" cy="438912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Training Cycle: What Happens at Each Iteration?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338560" cy="283464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1300" b="0">
                <a:solidFill>
                  <a:srgbClr val="D2E7FF"/>
                </a:solidFill>
                <a:latin typeface="Aptos"/>
              </a:defRPr>
            </a:pPr>
            <a:r>
              <a:t>The optimizer recalculates predictions, loss, and gradients using the current coefficients.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80160"/>
            <a:ext cx="3730752" cy="1865376"/>
          </a:xfrm>
          <a:prstGeom prst="roundRect">
            <a:avLst/>
          </a:prstGeom>
          <a:solidFill>
            <a:srgbClr val="E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8056" y="1408176"/>
            <a:ext cx="91440" cy="1609344"/>
          </a:xfrm>
          <a:prstGeom prst="roundRect">
            <a:avLst/>
          </a:prstGeom>
          <a:solidFill>
            <a:srgbClr val="0F9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7" y="1408176"/>
            <a:ext cx="3255264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0F91F2"/>
                </a:solidFill>
                <a:latin typeface="Aptos"/>
              </a:defRPr>
            </a:pPr>
            <a:r>
              <a:t>1  SELECT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" y="1920239"/>
            <a:ext cx="3227832" cy="1133856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Choose 32 labeled component-image feature vectors.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280160"/>
            <a:ext cx="3730752" cy="1865376"/>
          </a:xfrm>
          <a:prstGeom prst="roundRect">
            <a:avLst/>
          </a:prstGeom>
          <a:solidFill>
            <a:srgbClr val="E2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79975" y="1408176"/>
            <a:ext cx="91440" cy="1609344"/>
          </a:xfrm>
          <a:prstGeom prst="roundRect">
            <a:avLst/>
          </a:prstGeom>
          <a:solidFill>
            <a:srgbClr val="00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408176"/>
            <a:ext cx="3255264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009E6F"/>
                </a:solidFill>
                <a:latin typeface="Aptos"/>
              </a:defRPr>
            </a:pPr>
            <a:r>
              <a:t>2  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20239"/>
            <a:ext cx="3227832" cy="1133856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Calculate z = β₀ + β₁x and p = sigmoid(z).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80160"/>
            <a:ext cx="3730752" cy="1865376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11896" y="1408176"/>
            <a:ext cx="91440" cy="1609344"/>
          </a:xfrm>
          <a:prstGeom prst="roundRect">
            <a:avLst/>
          </a:prstGeom>
          <a:solidFill>
            <a:srgbClr val="F47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1408176"/>
            <a:ext cx="3255264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F47912"/>
                </a:solidFill>
                <a:latin typeface="Aptos"/>
              </a:defRPr>
            </a:pPr>
            <a:r>
              <a:t>3  MEASURE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920239"/>
            <a:ext cx="3227832" cy="1133856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Compare p with actual labels using binary cross-entropy.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337560"/>
            <a:ext cx="3730752" cy="1865376"/>
          </a:xfrm>
          <a:prstGeom prst="roundRect">
            <a:avLst/>
          </a:prstGeom>
          <a:solidFill>
            <a:srgbClr val="FF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8056" y="3465576"/>
            <a:ext cx="91440" cy="1609344"/>
          </a:xfrm>
          <a:prstGeom prst="roundRect">
            <a:avLst/>
          </a:prstGeom>
          <a:solidFill>
            <a:srgbClr val="E52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7" y="3465576"/>
            <a:ext cx="3255264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E52478"/>
                </a:solidFill>
                <a:latin typeface="Aptos"/>
              </a:defRPr>
            </a:pPr>
            <a:r>
              <a:t>4  COMPUTE GRADIENTS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" y="3977639"/>
            <a:ext cx="3227832" cy="1133856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Find ∂BCE/∂β₀ and ∂BCE/∂β₁ for this batch.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59" y="3337560"/>
            <a:ext cx="3730752" cy="1865376"/>
          </a:xfrm>
          <a:prstGeom prst="roundRect">
            <a:avLst/>
          </a:prstGeom>
          <a:solidFill>
            <a:srgbClr val="F1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79975" y="3465576"/>
            <a:ext cx="91440" cy="1609344"/>
          </a:xfrm>
          <a:prstGeom prst="roundRect">
            <a:avLst/>
          </a:prstGeom>
          <a:solidFill>
            <a:srgbClr val="773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465576"/>
            <a:ext cx="3255264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7733EB"/>
                </a:solidFill>
                <a:latin typeface="Aptos"/>
              </a:defRPr>
            </a:pPr>
            <a:r>
              <a:t>5  UPDATE COEFFICIENTS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977639"/>
            <a:ext cx="3227832" cy="1133856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βnew = βold − α × gradient. The next batch uses these NEW values.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5504688"/>
            <a:ext cx="7498079" cy="658368"/>
          </a:xfrm>
          <a:prstGeom prst="roundRect">
            <a:avLst/>
          </a:prstGeom>
          <a:solidFill>
            <a:srgbClr val="E2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07408" y="5660136"/>
            <a:ext cx="7178040" cy="320040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700" b="1">
                <a:solidFill>
                  <a:srgbClr val="072B67"/>
                </a:solidFill>
                <a:latin typeface="Aptos"/>
              </a:defRPr>
            </a:pPr>
            <a:r>
              <a:t>100,000 images ÷ 32 per batch = 3,125 updates per epoch.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11960352" cy="932688"/>
          </a:xfrm>
          <a:prstGeom prst="roundRect">
            <a:avLst/>
          </a:prstGeom>
          <a:solidFill>
            <a:srgbClr val="072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338560" cy="438912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Epochs, Batches, and Iterations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338560" cy="283464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1300" b="0">
                <a:solidFill>
                  <a:srgbClr val="D2E7FF"/>
                </a:solidFill>
                <a:latin typeface="Aptos"/>
              </a:defRPr>
            </a:pPr>
            <a:r>
              <a:t>Example: 100,000 labeled manufacturing images, represented as numerical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3703320" cy="3063240"/>
          </a:xfrm>
          <a:prstGeom prst="roundRect">
            <a:avLst/>
          </a:prstGeom>
          <a:solidFill>
            <a:srgbClr val="E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3776" y="1453895"/>
            <a:ext cx="91440" cy="2807208"/>
          </a:xfrm>
          <a:prstGeom prst="roundRect">
            <a:avLst/>
          </a:prstGeom>
          <a:solidFill>
            <a:srgbClr val="0F9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453895"/>
            <a:ext cx="3227832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0F91F2"/>
                </a:solidFill>
                <a:latin typeface="Aptos"/>
              </a:defRPr>
            </a:pPr>
            <a:r>
              <a:t>FULL-BATCH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3200400" cy="2331720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Batch size: 100,000
Updates per epoch: 1
All feature vectors processed together.</a:t>
            </a:r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703320" cy="3063240"/>
          </a:xfrm>
          <a:prstGeom prst="roundRect">
            <a:avLst/>
          </a:prstGeom>
          <a:solidFill>
            <a:srgbClr val="F2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25696" y="1453895"/>
            <a:ext cx="91440" cy="2807208"/>
          </a:xfrm>
          <a:prstGeom prst="roundRect">
            <a:avLst/>
          </a:prstGeom>
          <a:solidFill>
            <a:srgbClr val="773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453895"/>
            <a:ext cx="3227832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7733EB"/>
                </a:solidFill>
                <a:latin typeface="Aptos"/>
              </a:defRPr>
            </a:pPr>
            <a:r>
              <a:t>MINI-BATCH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65960"/>
            <a:ext cx="3200400" cy="2331720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Batch size: 32
Updates per epoch: 3,125
3,125 batches of 32 images each.</a:t>
            </a:r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0" y="1325880"/>
            <a:ext cx="3703320" cy="3063240"/>
          </a:xfrm>
          <a:prstGeom prst="roundRect">
            <a:avLst/>
          </a:prstGeom>
          <a:solidFill>
            <a:srgbClr val="E2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57616" y="1453895"/>
            <a:ext cx="91440" cy="2807208"/>
          </a:xfrm>
          <a:prstGeom prst="roundRect">
            <a:avLst/>
          </a:prstGeom>
          <a:solidFill>
            <a:srgbClr val="00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8" y="1453895"/>
            <a:ext cx="3227832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009E6F"/>
                </a:solidFill>
                <a:latin typeface="Aptos"/>
              </a:defRPr>
            </a:pPr>
            <a:r>
              <a:t>STOCHASTIC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965960"/>
            <a:ext cx="3200400" cy="2331720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Batch size: 1
Updates per epoch: 100,000
One image feature vector per update.</a:t>
            </a:r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11064240" cy="1188720"/>
          </a:xfrm>
          <a:prstGeom prst="roundRect">
            <a:avLst/>
          </a:prstGeom>
          <a:solidFill>
            <a:srgbClr val="FF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4956048"/>
            <a:ext cx="10698480" cy="777240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2100" b="1">
                <a:solidFill>
                  <a:srgbClr val="072B67"/>
                </a:solidFill>
                <a:latin typeface="Aptos"/>
              </a:defRPr>
            </a:pPr>
            <a:r>
              <a:t>Important: An iteration is ONE update. An epoch is ONE full pass through the dataset.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11960352" cy="932688"/>
          </a:xfrm>
          <a:prstGeom prst="roundRect">
            <a:avLst/>
          </a:prstGeom>
          <a:solidFill>
            <a:srgbClr val="072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338560" cy="438912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Why Mini-Batch Loss Can Go Up and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338560" cy="283464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1300" b="0">
                <a:solidFill>
                  <a:srgbClr val="D2E7FF"/>
                </a:solidFill>
                <a:latin typeface="Aptos"/>
              </a:defRPr>
            </a:pPr>
            <a:r>
              <a:t>A single batch's loss is not the same as the loss across the entire training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07592"/>
            <a:ext cx="5577840" cy="3520440"/>
          </a:xfrm>
          <a:prstGeom prst="roundRect">
            <a:avLst/>
          </a:prstGeom>
          <a:solidFill>
            <a:srgbClr val="FF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3776" y="1435607"/>
            <a:ext cx="91440" cy="3264408"/>
          </a:xfrm>
          <a:prstGeom prst="roundRect">
            <a:avLst/>
          </a:prstGeom>
          <a:solidFill>
            <a:srgbClr val="E52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435607"/>
            <a:ext cx="5102352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E52478"/>
                </a:solidFill>
                <a:latin typeface="Aptos"/>
              </a:defRPr>
            </a:pPr>
            <a:r>
              <a:t>BATCH LOSS (NOISY)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47672"/>
            <a:ext cx="5074920" cy="2788920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Different batches contain different images.
Some include harder defect cases.
A later batch can have higher loss even as overall training improves.</a:t>
            </a:r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1307592"/>
            <a:ext cx="5577840" cy="3520440"/>
          </a:xfrm>
          <a:prstGeom prst="roundRect">
            <a:avLst/>
          </a:prstGeom>
          <a:solidFill>
            <a:srgbClr val="E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0216" y="1435607"/>
            <a:ext cx="91440" cy="3264408"/>
          </a:xfrm>
          <a:prstGeom prst="roundRect">
            <a:avLst/>
          </a:prstGeom>
          <a:solidFill>
            <a:srgbClr val="0F9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435607"/>
            <a:ext cx="5102352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0F91F2"/>
                </a:solidFill>
                <a:latin typeface="Aptos"/>
              </a:defRPr>
            </a:pPr>
            <a:r>
              <a:t>FULL-DATASET LOSS (MONITOR)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947672"/>
            <a:ext cx="5074920" cy="2788920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Evaluate all 100,000 training examples with the current coefficients.
Check at each epoch end (or another chosen interval).
Monitor training AND held-out validation loss.</a:t>
            </a:r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5166360"/>
            <a:ext cx="11018520" cy="868680"/>
          </a:xfrm>
          <a:prstGeom prst="roundRect">
            <a:avLst/>
          </a:prstGeom>
          <a:solidFill>
            <a:srgbClr val="E6F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376672"/>
            <a:ext cx="10607040" cy="38404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2000" b="1">
                <a:solidFill>
                  <a:srgbClr val="009E6F"/>
                </a:solidFill>
                <a:latin typeface="Aptos"/>
              </a:defRPr>
            </a:pPr>
            <a:r>
              <a:t>A rising batch loss does NOT automatically mean gradient descent is failing.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11960352" cy="932688"/>
          </a:xfrm>
          <a:prstGeom prst="roundRect">
            <a:avLst/>
          </a:prstGeom>
          <a:solidFill>
            <a:srgbClr val="072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338560" cy="438912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When Does Training Stop?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338560" cy="283464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1300" b="0">
                <a:solidFill>
                  <a:srgbClr val="D2E7FF"/>
                </a:solidFill>
                <a:latin typeface="Aptos"/>
              </a:defRPr>
            </a:pPr>
            <a:r>
              <a:t>Stopping criteria help decide when further coefficient updates are no longer useful.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596128" cy="1874519"/>
          </a:xfrm>
          <a:prstGeom prst="roundRect">
            <a:avLst/>
          </a:prstGeom>
          <a:solidFill>
            <a:srgbClr val="E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3776" y="1408176"/>
            <a:ext cx="91440" cy="1618487"/>
          </a:xfrm>
          <a:prstGeom prst="roundRect">
            <a:avLst/>
          </a:prstGeom>
          <a:solidFill>
            <a:srgbClr val="0F9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408176"/>
            <a:ext cx="5120640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0F91F2"/>
                </a:solidFill>
                <a:latin typeface="Aptos"/>
              </a:defRPr>
            </a:pPr>
            <a:r>
              <a:t>LOSS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20239"/>
            <a:ext cx="5093208" cy="1142999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Stop when the monitored loss changes less than a chosen tolerance.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96128" cy="1874519"/>
          </a:xfrm>
          <a:prstGeom prst="roundRect">
            <a:avLst/>
          </a:prstGeom>
          <a:solidFill>
            <a:srgbClr val="E2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45936" y="1408176"/>
            <a:ext cx="91440" cy="1618487"/>
          </a:xfrm>
          <a:prstGeom prst="roundRect">
            <a:avLst/>
          </a:prstGeom>
          <a:solidFill>
            <a:srgbClr val="00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408176"/>
            <a:ext cx="5120640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009E6F"/>
                </a:solidFill>
                <a:latin typeface="Aptos"/>
              </a:defRPr>
            </a:pPr>
            <a:r>
              <a:t>GRADIENT NORM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920239"/>
            <a:ext cx="5093208" cy="1142999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Stop when the gradients become sufficiently small.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355848"/>
            <a:ext cx="5596128" cy="1874519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93776" y="3483864"/>
            <a:ext cx="91440" cy="1618487"/>
          </a:xfrm>
          <a:prstGeom prst="roundRect">
            <a:avLst/>
          </a:prstGeom>
          <a:solidFill>
            <a:srgbClr val="F47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483864"/>
            <a:ext cx="5120640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F47912"/>
                </a:solidFill>
                <a:latin typeface="Aptos"/>
              </a:defRPr>
            </a:pPr>
            <a:r>
              <a:t>MAXIMUM ITERATIONS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95928"/>
            <a:ext cx="5093208" cy="1142999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Stop at a preset update limit, even if not converged.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55848"/>
            <a:ext cx="5596128" cy="1874519"/>
          </a:xfrm>
          <a:prstGeom prst="roundRect">
            <a:avLst/>
          </a:prstGeom>
          <a:solidFill>
            <a:srgbClr val="F2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45936" y="3483864"/>
            <a:ext cx="91440" cy="1618487"/>
          </a:xfrm>
          <a:prstGeom prst="roundRect">
            <a:avLst/>
          </a:prstGeom>
          <a:solidFill>
            <a:srgbClr val="773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3483864"/>
            <a:ext cx="5120640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7733EB"/>
                </a:solidFill>
                <a:latin typeface="Aptos"/>
              </a:defRPr>
            </a:pPr>
            <a:r>
              <a:t>COEFFICIENT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995928"/>
            <a:ext cx="5093208" cy="1142999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Stop when updates become sufficiently small; check for tiny learning rates.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05272"/>
            <a:ext cx="11155680" cy="566928"/>
          </a:xfrm>
          <a:prstGeom prst="roundRect">
            <a:avLst/>
          </a:prstGeom>
          <a:solidFill>
            <a:srgbClr val="FF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715000"/>
            <a:ext cx="10789920" cy="347472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1600" b="1">
                <a:solidFill>
                  <a:srgbClr val="072B67"/>
                </a:solidFill>
                <a:latin typeface="Aptos"/>
              </a:defRPr>
            </a:pPr>
            <a:r>
              <a:t>A stopping condition being met does not always mean the best possible coefficients were found.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" y="109728"/>
            <a:ext cx="11960352" cy="932688"/>
          </a:xfrm>
          <a:prstGeom prst="roundRect">
            <a:avLst/>
          </a:prstGeom>
          <a:solidFill>
            <a:srgbClr val="072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338560" cy="438912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Real-World Convergence: What to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338560" cy="283464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1300" b="0">
                <a:solidFill>
                  <a:srgbClr val="D2E7FF"/>
                </a:solidFill>
                <a:latin typeface="Aptos"/>
              </a:defRPr>
            </a:pPr>
            <a:r>
              <a:t>Real manufacturing data are noisy; training loss alone does not establish generalization.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61872"/>
            <a:ext cx="5532120" cy="3383280"/>
          </a:xfrm>
          <a:prstGeom prst="roundRect">
            <a:avLst/>
          </a:prstGeom>
          <a:solidFill>
            <a:srgbClr val="E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91440" cy="3127248"/>
          </a:xfrm>
          <a:prstGeom prst="roundRect">
            <a:avLst/>
          </a:prstGeom>
          <a:solidFill>
            <a:srgbClr val="0F9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5056631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0F91F2"/>
                </a:solidFill>
                <a:latin typeface="Aptos"/>
              </a:defRPr>
            </a:pPr>
            <a:r>
              <a:t>100,000 LABELED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5029200" cy="2651760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Each image has extracted numerical features and a defect label (0 or 1).
Some good and defective components look similar.
Use a separate validation set to test generalization.</a:t>
            </a:r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08192" y="1261872"/>
            <a:ext cx="5715000" cy="3383280"/>
          </a:xfrm>
          <a:prstGeom prst="roundRect">
            <a:avLst/>
          </a:prstGeom>
          <a:solidFill>
            <a:srgbClr val="FF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36207" y="1389888"/>
            <a:ext cx="91440" cy="3127248"/>
          </a:xfrm>
          <a:prstGeom prst="roundRect">
            <a:avLst/>
          </a:prstGeom>
          <a:solidFill>
            <a:srgbClr val="E52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389888"/>
            <a:ext cx="5239512" cy="429768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900" b="1">
                <a:solidFill>
                  <a:srgbClr val="E52478"/>
                </a:solidFill>
                <a:latin typeface="Aptos"/>
              </a:defRPr>
            </a:pPr>
            <a:r>
              <a:t>WHAT CONVERGENCE TELLS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01952"/>
            <a:ext cx="5212080" cy="2651760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r>
              <a:t>With mini-batches, individual batch losses can fluctuate.
Monitor overall training loss and validation loss.
Use regularization and stopping criteria to limit overfitting.</a:t>
            </a:r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  <a:p>
            <a:pPr>
              <a:defRPr sz="1600" b="0">
                <a:solidFill>
                  <a:srgbClr val="142C56"/>
                </a:solidFill>
                <a:latin typeface="Aptos"/>
              </a:defRPr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5001768"/>
            <a:ext cx="11064240" cy="1005840"/>
          </a:xfrm>
          <a:prstGeom prst="roundRect">
            <a:avLst/>
          </a:prstGeom>
          <a:solidFill>
            <a:srgbClr val="E5F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239512"/>
            <a:ext cx="10652760" cy="530352"/>
          </a:xfrm>
          <a:prstGeom prst="rect">
            <a:avLst/>
          </a:prstGeom>
          <a:noFill/>
        </p:spPr>
        <p:txBody>
          <a:bodyPr wrap="square" lIns="82296">
            <a:spAutoFit/>
          </a:bodyPr>
          <a:lstStyle/>
          <a:p>
            <a:pPr algn="ctr">
              <a:defRPr sz="2000" b="1">
                <a:solidFill>
                  <a:srgbClr val="009E6F"/>
                </a:solidFill>
                <a:latin typeface="Aptos"/>
              </a:defRPr>
            </a:pPr>
            <a:r>
              <a:t>Training loss flattening is not proof of good defect detection: check validation recall and precision.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514</Words>
  <Application>Microsoft Office PowerPoint</Application>
  <PresentationFormat>Widescreen</PresentationFormat>
  <Paragraphs>52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Regression: From Intuition to Production</dc:title>
  <dc:subject>MSBA 265 | Beginner-to-advanced logistic-regression masterclass</dc:subject>
  <dc:creator>MSBA 265 | University of the Pacific</dc:creator>
  <cp:keywords/>
  <dc:description>generated using python-pptx</dc:description>
  <cp:lastModifiedBy>Shyla Solis</cp:lastModifiedBy>
  <cp:revision>11</cp:revision>
  <dcterms:created xsi:type="dcterms:W3CDTF">2013-01-27T09:14:16Z</dcterms:created>
  <dcterms:modified xsi:type="dcterms:W3CDTF">2026-10-20T01:04:35Z</dcterms:modified>
  <cp:category/>
</cp:coreProperties>
</file>